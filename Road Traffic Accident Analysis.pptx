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9" r:id="rId4"/>
    <p:sldId id="261" r:id="rId5"/>
    <p:sldId id="262" r:id="rId6"/>
    <p:sldId id="263" r:id="rId7"/>
    <p:sldId id="260" r:id="rId8"/>
    <p:sldId id="275" r:id="rId9"/>
    <p:sldId id="276" r:id="rId10"/>
    <p:sldId id="278" r:id="rId11"/>
    <p:sldId id="277" r:id="rId12"/>
    <p:sldId id="265" r:id="rId13"/>
    <p:sldId id="266" r:id="rId14"/>
    <p:sldId id="267" r:id="rId15"/>
    <p:sldId id="270" r:id="rId16"/>
    <p:sldId id="272" r:id="rId17"/>
    <p:sldId id="273" r:id="rId18"/>
  </p:sldIdLst>
  <p:sldSz cx="12192000" cy="6858000"/>
  <p:notesSz cx="6858000" cy="9144000"/>
  <p:embeddedFontLst>
    <p:embeddedFont>
      <p:font typeface="Inter" charset="0"/>
      <p:regular r:id="rId20"/>
      <p:bold r:id="rId21"/>
      <p:italic r:id="rId22"/>
      <p:boldItalic r:id="rId23"/>
    </p:embeddedFont>
    <p:embeddedFont>
      <p:font typeface="Inter SemiBold" charset="0"/>
      <p:regular r:id="rId24"/>
      <p:bold r:id="rId25"/>
      <p:italic r:id="rId26"/>
      <p:boldItalic r:id="rId27"/>
    </p:embeddedFont>
    <p:embeddedFont>
      <p:font typeface="Merriweather" charset="0"/>
      <p:regular r:id="rId28"/>
      <p:bold r:id="rId29"/>
      <p:italic r:id="rId30"/>
      <p:boldItalic r:id="rId31"/>
    </p:embeddedFont>
    <p:embeddedFont>
      <p:font typeface="Calibri" pitchFamily="34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6" d="100"/>
          <a:sy n="76" d="100"/>
        </p:scale>
        <p:origin x="-480" y="21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34" Type="http://schemas.openxmlformats.org/officeDocument/2006/relationships/font" Target="fonts/font1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font" Target="fonts/font1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172783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5275" y="1953666"/>
            <a:ext cx="11601450" cy="18281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 smtClean="0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Road Traffic Accident</a:t>
            </a:r>
            <a:r>
              <a:rPr lang="en-US" sz="1800" b="0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 dirty="0" smtClean="0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 Analysis</a:t>
            </a: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3976538"/>
            <a:ext cx="110490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 Data-Driven Approach using Machine Learning</a:t>
            </a:r>
            <a:endParaRPr dirty="0"/>
          </a:p>
        </p:txBody>
      </p:sp>
      <p:sp>
        <p:nvSpPr>
          <p:cNvPr id="87" name="Google Shape;87;p13"/>
          <p:cNvSpPr/>
          <p:nvPr/>
        </p:nvSpPr>
        <p:spPr>
          <a:xfrm>
            <a:off x="5619750" y="4866084"/>
            <a:ext cx="952500" cy="38100"/>
          </a:xfrm>
          <a:prstGeom prst="roundRect">
            <a:avLst>
              <a:gd name="adj" fmla="val 16667"/>
            </a:avLst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647825"/>
            <a:ext cx="5238750" cy="3267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647825"/>
            <a:ext cx="5238750" cy="326707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962025" y="2038350"/>
            <a:ext cx="468058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Project Aim &amp; Scope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962025" y="2552700"/>
            <a:ext cx="44577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This project analyzes road traffic data to identify key factors influencing accident severity. We employ an end-to-end data pipeline, from acquisition to predictive modeling, aimed at supporting decision-making for safer road infrastructure.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6772275" y="2038350"/>
            <a:ext cx="468058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Methodology &amp; Results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6772275" y="2552700"/>
            <a:ext cx="44577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Using algorithms like Logistic Regression, SVM, and Random Forest, we achieved ~98% predictive accuracy. The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Random Forest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model was selected for deployment due to its robustness and interpretability regarding weather and road type impacts.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Abstract</a:t>
            </a:r>
            <a:endParaRPr dirty="0"/>
          </a:p>
        </p:txBody>
      </p:sp>
      <p:sp>
        <p:nvSpPr>
          <p:cNvPr id="100" name="Google Shape;100;p14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05037"/>
            <a:ext cx="3492549" cy="352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205037"/>
            <a:ext cx="3492549" cy="352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205037"/>
            <a:ext cx="3492549" cy="352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423374" y="2500312"/>
            <a:ext cx="2901999" cy="56197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6"/>
          <p:cNvSpPr txBox="1"/>
          <p:nvPr/>
        </p:nvSpPr>
        <p:spPr>
          <a:xfrm>
            <a:off x="794225" y="3252787"/>
            <a:ext cx="3047099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Rising Severity</a:t>
            </a:r>
            <a:endParaRPr dirty="0"/>
          </a:p>
        </p:txBody>
      </p:sp>
      <p:sp>
        <p:nvSpPr>
          <p:cNvPr id="122" name="Google Shape;122;p16"/>
          <p:cNvSpPr txBox="1"/>
          <p:nvPr/>
        </p:nvSpPr>
        <p:spPr>
          <a:xfrm>
            <a:off x="866775" y="3767137"/>
            <a:ext cx="2901999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Despite infrastructure advancements, accident frequency and severity remain critical public safety concerns globally.</a:t>
            </a:r>
            <a:endParaRPr/>
          </a:p>
        </p:txBody>
      </p:sp>
      <p:sp>
        <p:nvSpPr>
          <p:cNvPr id="123" name="Google Shape;123;p16"/>
          <p:cNvSpPr txBox="1"/>
          <p:nvPr/>
        </p:nvSpPr>
        <p:spPr>
          <a:xfrm>
            <a:off x="4572524" y="3252787"/>
            <a:ext cx="3047099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Data Gap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4645074" y="3767137"/>
            <a:ext cx="2901999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Traditional manual analysis is insufficient. There is a critical need for data-driven approaches to handle large-scale datasets.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8350824" y="3252787"/>
            <a:ext cx="3047099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Predictive Goal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8423374" y="3767137"/>
            <a:ext cx="2901999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project aims to build models estimating severity based on environmental, temporal, and roadway features.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571500" y="571500"/>
            <a:ext cx="1160145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150" b="1" dirty="0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Introduction</a:t>
            </a:r>
            <a:endParaRPr dirty="0"/>
          </a:p>
        </p:txBody>
      </p:sp>
      <p:sp>
        <p:nvSpPr>
          <p:cNvPr id="130" name="Google Shape;130;p16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8"/>
          <p:cNvSpPr txBox="1"/>
          <p:nvPr/>
        </p:nvSpPr>
        <p:spPr>
          <a:xfrm>
            <a:off x="571500" y="4931866"/>
            <a:ext cx="1104900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— Literature Findings</a:t>
            </a:r>
            <a:endParaRPr/>
          </a:p>
        </p:txBody>
      </p:sp>
      <p:sp>
        <p:nvSpPr>
          <p:cNvPr id="156" name="Google Shape;156;p18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The Shift to Machine Learning</a:t>
            </a:r>
            <a:endParaRPr/>
          </a:p>
        </p:txBody>
      </p:sp>
      <p:sp>
        <p:nvSpPr>
          <p:cNvPr id="157" name="Google Shape;157;p18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8"/>
          <p:cNvSpPr txBox="1"/>
          <p:nvPr/>
        </p:nvSpPr>
        <p:spPr>
          <a:xfrm>
            <a:off x="504173" y="2469059"/>
            <a:ext cx="11049000" cy="1919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1F5F9"/>
                </a:solidFill>
                <a:latin typeface="Merriweather"/>
                <a:ea typeface="Merriweather"/>
                <a:cs typeface="Merriweather"/>
                <a:sym typeface="Merriweather"/>
              </a:rPr>
              <a:t>"Ensemble methods like Random Forest outperform traditional linear models when dealing with heterogeneous accident data."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9"/>
          <p:cNvSpPr/>
          <p:nvPr/>
        </p:nvSpPr>
        <p:spPr>
          <a:xfrm>
            <a:off x="571500" y="3967162"/>
            <a:ext cx="11049000" cy="38100"/>
          </a:xfrm>
          <a:prstGeom prst="roundRect">
            <a:avLst>
              <a:gd name="adj" fmla="val 16667"/>
            </a:avLst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9"/>
          <p:cNvSpPr/>
          <p:nvPr/>
        </p:nvSpPr>
        <p:spPr>
          <a:xfrm>
            <a:off x="1451520" y="3251894"/>
            <a:ext cx="228600" cy="22860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9"/>
          <p:cNvSpPr txBox="1"/>
          <p:nvPr/>
        </p:nvSpPr>
        <p:spPr>
          <a:xfrm>
            <a:off x="521780" y="3670994"/>
            <a:ext cx="2088229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Acquisition</a:t>
            </a:r>
            <a:endParaRPr/>
          </a:p>
        </p:txBody>
      </p:sp>
      <p:sp>
        <p:nvSpPr>
          <p:cNvPr id="167" name="Google Shape;167;p19"/>
          <p:cNvSpPr txBox="1"/>
          <p:nvPr/>
        </p:nvSpPr>
        <p:spPr>
          <a:xfrm>
            <a:off x="571500" y="4051994"/>
            <a:ext cx="198879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Kaggle Dataset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(AccidentsBig.csv)</a:t>
            </a:r>
            <a:endParaRPr/>
          </a:p>
        </p:txBody>
      </p:sp>
      <p:sp>
        <p:nvSpPr>
          <p:cNvPr id="168" name="Google Shape;168;p19"/>
          <p:cNvSpPr/>
          <p:nvPr/>
        </p:nvSpPr>
        <p:spPr>
          <a:xfrm>
            <a:off x="3716535" y="3251894"/>
            <a:ext cx="228600" cy="22860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9"/>
          <p:cNvSpPr txBox="1"/>
          <p:nvPr/>
        </p:nvSpPr>
        <p:spPr>
          <a:xfrm>
            <a:off x="2786795" y="3670994"/>
            <a:ext cx="2088229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EDA</a:t>
            </a:r>
            <a:endParaRPr/>
          </a:p>
        </p:txBody>
      </p:sp>
      <p:sp>
        <p:nvSpPr>
          <p:cNvPr id="170" name="Google Shape;170;p19"/>
          <p:cNvSpPr txBox="1"/>
          <p:nvPr/>
        </p:nvSpPr>
        <p:spPr>
          <a:xfrm>
            <a:off x="2836515" y="4051994"/>
            <a:ext cx="198879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Outlier Detection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&amp; Missing Values</a:t>
            </a:r>
            <a:endParaRPr/>
          </a:p>
        </p:txBody>
      </p:sp>
      <p:sp>
        <p:nvSpPr>
          <p:cNvPr id="171" name="Google Shape;171;p19"/>
          <p:cNvSpPr/>
          <p:nvPr/>
        </p:nvSpPr>
        <p:spPr>
          <a:xfrm>
            <a:off x="5981551" y="3251894"/>
            <a:ext cx="228600" cy="22860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9"/>
          <p:cNvSpPr txBox="1"/>
          <p:nvPr/>
        </p:nvSpPr>
        <p:spPr>
          <a:xfrm>
            <a:off x="5051810" y="3670994"/>
            <a:ext cx="2088229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Encoding</a:t>
            </a:r>
            <a:endParaRPr/>
          </a:p>
        </p:txBody>
      </p:sp>
      <p:sp>
        <p:nvSpPr>
          <p:cNvPr id="173" name="Google Shape;173;p19"/>
          <p:cNvSpPr txBox="1"/>
          <p:nvPr/>
        </p:nvSpPr>
        <p:spPr>
          <a:xfrm>
            <a:off x="5101530" y="4051994"/>
            <a:ext cx="198879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Categorical to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Numerical</a:t>
            </a:r>
            <a:endParaRPr/>
          </a:p>
        </p:txBody>
      </p:sp>
      <p:sp>
        <p:nvSpPr>
          <p:cNvPr id="174" name="Google Shape;174;p19"/>
          <p:cNvSpPr/>
          <p:nvPr/>
        </p:nvSpPr>
        <p:spPr>
          <a:xfrm>
            <a:off x="8246566" y="3251894"/>
            <a:ext cx="228600" cy="22860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9"/>
          <p:cNvSpPr txBox="1"/>
          <p:nvPr/>
        </p:nvSpPr>
        <p:spPr>
          <a:xfrm>
            <a:off x="7316825" y="3670994"/>
            <a:ext cx="2088229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Modeling</a:t>
            </a:r>
            <a:endParaRPr/>
          </a:p>
        </p:txBody>
      </p:sp>
      <p:sp>
        <p:nvSpPr>
          <p:cNvPr id="176" name="Google Shape;176;p19"/>
          <p:cNvSpPr txBox="1"/>
          <p:nvPr/>
        </p:nvSpPr>
        <p:spPr>
          <a:xfrm>
            <a:off x="7366545" y="4051994"/>
            <a:ext cx="198879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RF, SVM, KNN,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LogReg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, DT</a:t>
            </a:r>
            <a:endParaRPr dirty="0"/>
          </a:p>
        </p:txBody>
      </p:sp>
      <p:sp>
        <p:nvSpPr>
          <p:cNvPr id="177" name="Google Shape;177;p19"/>
          <p:cNvSpPr/>
          <p:nvPr/>
        </p:nvSpPr>
        <p:spPr>
          <a:xfrm>
            <a:off x="10511581" y="3251894"/>
            <a:ext cx="228600" cy="22860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9"/>
          <p:cNvSpPr txBox="1"/>
          <p:nvPr/>
        </p:nvSpPr>
        <p:spPr>
          <a:xfrm>
            <a:off x="9581841" y="3670994"/>
            <a:ext cx="2088229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Evaluation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9631560" y="4051994"/>
            <a:ext cx="198879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Accuracy &amp;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Feature Importance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Methodology Pipeline</a:t>
            </a:r>
            <a:endParaRPr/>
          </a:p>
        </p:txBody>
      </p:sp>
      <p:sp>
        <p:nvSpPr>
          <p:cNvPr id="181" name="Google Shape;181;p19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647825"/>
            <a:ext cx="52387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/>
          <p:nvPr/>
        </p:nvSpPr>
        <p:spPr>
          <a:xfrm>
            <a:off x="571500" y="1647825"/>
            <a:ext cx="55006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Key Preprocessing Steps</a:t>
            </a:r>
            <a:endParaRPr/>
          </a:p>
        </p:txBody>
      </p:sp>
      <p:pic>
        <p:nvPicPr>
          <p:cNvPr id="189" name="Google Shape;189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647825"/>
            <a:ext cx="52387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0"/>
          <p:cNvSpPr txBox="1"/>
          <p:nvPr/>
        </p:nvSpPr>
        <p:spPr>
          <a:xfrm>
            <a:off x="952500" y="2124075"/>
            <a:ext cx="48577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Missing Data: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Handled using forward fill (numeric) and mode imputation (categorical) to preserve data integrity.</a:t>
            </a:r>
            <a:endParaRPr/>
          </a:p>
        </p:txBody>
      </p:sp>
      <p:sp>
        <p:nvSpPr>
          <p:cNvPr id="191" name="Google Shape;191;p20"/>
          <p:cNvSpPr txBox="1"/>
          <p:nvPr/>
        </p:nvSpPr>
        <p:spPr>
          <a:xfrm>
            <a:off x="952500" y="3276600"/>
            <a:ext cx="48577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Outliers: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Detected in 'Number of Vehicles' and 'Casualties'. Retained as they represent meaningful high-severity events.</a:t>
            </a:r>
            <a:endParaRPr/>
          </a:p>
        </p:txBody>
      </p:sp>
      <p:sp>
        <p:nvSpPr>
          <p:cNvPr id="192" name="Google Shape;192;p20"/>
          <p:cNvSpPr txBox="1"/>
          <p:nvPr/>
        </p:nvSpPr>
        <p:spPr>
          <a:xfrm>
            <a:off x="952500" y="4429125"/>
            <a:ext cx="4857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Encoding: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Converted text labels (Road Type, Weather) into numerical formats for ML compatibility.</a:t>
            </a:r>
            <a:endParaRPr/>
          </a:p>
        </p:txBody>
      </p:sp>
      <p:sp>
        <p:nvSpPr>
          <p:cNvPr id="193" name="Google Shape;193;p20"/>
          <p:cNvSpPr txBox="1"/>
          <p:nvPr/>
        </p:nvSpPr>
        <p:spPr>
          <a:xfrm>
            <a:off x="952500" y="5276850"/>
            <a:ext cx="48577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Correlation: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Heatmaps revealed weak linear correlations, necessitating non-linear models like Random Forest.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Exploratory Data Analysis (EDA)</a:t>
            </a:r>
            <a:endParaRPr/>
          </a:p>
        </p:txBody>
      </p:sp>
      <p:sp>
        <p:nvSpPr>
          <p:cNvPr id="195" name="Google Shape;195;p20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216217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314700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46722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5314950"/>
            <a:ext cx="228600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7"/>
          <p:cNvSpPr txBox="1"/>
          <p:nvPr/>
        </p:nvSpPr>
        <p:spPr>
          <a:xfrm>
            <a:off x="1506450" y="5089741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dirty="0"/>
          </a:p>
        </p:txBody>
      </p:sp>
      <p:sp>
        <p:nvSpPr>
          <p:cNvPr id="146" name="Google Shape;146;p17"/>
          <p:cNvSpPr txBox="1"/>
          <p:nvPr/>
        </p:nvSpPr>
        <p:spPr>
          <a:xfrm>
            <a:off x="1916483" y="5021893"/>
            <a:ext cx="8492646" cy="1181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en-US" sz="1600" b="1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Key Finding:</a:t>
            </a:r>
            <a:r>
              <a:rPr lang="en-US" sz="16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Significant outliers were detected at the higher end of the scale. These represent </a:t>
            </a:r>
            <a:r>
              <a:rPr lang="en-US" sz="1600" b="1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rare, high-severity crash events</a:t>
            </a:r>
            <a:r>
              <a:rPr lang="en-US" sz="16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and were retained to train the model to recognize critical scenarios</a:t>
            </a:r>
            <a:r>
              <a:rPr lang="en-US" sz="1600" dirty="0" smtClean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lang="en-US" sz="1600" dirty="0"/>
          </a:p>
        </p:txBody>
      </p:sp>
      <p:sp>
        <p:nvSpPr>
          <p:cNvPr id="147" name="Google Shape;147;p17"/>
          <p:cNvSpPr txBox="1"/>
          <p:nvPr/>
        </p:nvSpPr>
        <p:spPr>
          <a:xfrm>
            <a:off x="571500" y="571500"/>
            <a:ext cx="1160145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 dirty="0" smtClean="0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Outliers</a:t>
            </a:r>
            <a:endParaRPr dirty="0"/>
          </a:p>
        </p:txBody>
      </p:sp>
      <p:sp>
        <p:nvSpPr>
          <p:cNvPr id="148" name="Google Shape;148;p17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0283" y="1503360"/>
            <a:ext cx="9331891" cy="34057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35;p17" descr="imag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45;p17"/>
          <p:cNvSpPr txBox="1"/>
          <p:nvPr/>
        </p:nvSpPr>
        <p:spPr>
          <a:xfrm>
            <a:off x="1506450" y="508974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dirty="0"/>
          </a:p>
        </p:txBody>
      </p:sp>
      <p:sp>
        <p:nvSpPr>
          <p:cNvPr id="12" name="Google Shape;146;p17"/>
          <p:cNvSpPr txBox="1"/>
          <p:nvPr/>
        </p:nvSpPr>
        <p:spPr>
          <a:xfrm>
            <a:off x="1916483" y="5021892"/>
            <a:ext cx="8492646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lvl="0">
              <a:lnSpc>
                <a:spcPct val="160000"/>
              </a:lnSpc>
            </a:pPr>
            <a:r>
              <a:rPr lang="en-US" sz="1600" i="1" dirty="0" smtClean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"</a:t>
            </a:r>
            <a:r>
              <a:rPr lang="en-US" sz="1600" i="1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Slight" accidents forming the vast majority. This explains why classification models achieve high overall accuracy</a:t>
            </a:r>
            <a:r>
              <a:rPr lang="en-US" sz="1600" dirty="0" smtClean="0"/>
              <a:t>.</a:t>
            </a:r>
            <a:r>
              <a:rPr lang="en-US" sz="1500" b="0" i="0" u="none" strike="noStrike" cap="none" dirty="0" smtClean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13" name="Google Shape;147;p17"/>
          <p:cNvSpPr txBox="1"/>
          <p:nvPr/>
        </p:nvSpPr>
        <p:spPr>
          <a:xfrm>
            <a:off x="590550" y="571499"/>
            <a:ext cx="1160145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150" b="1" dirty="0">
                <a:solidFill>
                  <a:srgbClr val="38BDF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Accident Severity Distribution</a:t>
            </a:r>
            <a:endParaRPr b="1" dirty="0"/>
          </a:p>
        </p:txBody>
      </p:sp>
      <p:sp>
        <p:nvSpPr>
          <p:cNvPr id="14" name="Google Shape;148;p17"/>
          <p:cNvSpPr/>
          <p:nvPr/>
        </p:nvSpPr>
        <p:spPr>
          <a:xfrm>
            <a:off x="571500" y="1247774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9746" y="1463974"/>
            <a:ext cx="5665947" cy="354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880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135;p17" descr="imag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45;p17"/>
          <p:cNvSpPr txBox="1"/>
          <p:nvPr/>
        </p:nvSpPr>
        <p:spPr>
          <a:xfrm>
            <a:off x="1506450" y="508974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dirty="0"/>
          </a:p>
        </p:txBody>
      </p:sp>
      <p:sp>
        <p:nvSpPr>
          <p:cNvPr id="6" name="Google Shape;146;p17"/>
          <p:cNvSpPr txBox="1"/>
          <p:nvPr/>
        </p:nvSpPr>
        <p:spPr>
          <a:xfrm>
            <a:off x="1916483" y="5021892"/>
            <a:ext cx="8492646" cy="1181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majority of accidents occurred during </a:t>
            </a:r>
            <a:r>
              <a:rPr lang="en-US" sz="1600" b="1" dirty="0" smtClean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Raining</a:t>
            </a:r>
            <a:r>
              <a:rPr lang="en-US" sz="1600" dirty="0" smtClean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 Some accidents during fine weather </a:t>
            </a:r>
            <a:r>
              <a:rPr lang="en-US" sz="16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suggests that good weather conditions often correspond to higher traffic volumes, leading to more opportunities for accidents</a:t>
            </a:r>
            <a:r>
              <a:rPr lang="en-US" sz="1600" dirty="0" smtClean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lang="en-US" sz="1600" dirty="0"/>
          </a:p>
        </p:txBody>
      </p:sp>
      <p:sp>
        <p:nvSpPr>
          <p:cNvPr id="7" name="Google Shape;147;p17"/>
          <p:cNvSpPr txBox="1"/>
          <p:nvPr/>
        </p:nvSpPr>
        <p:spPr>
          <a:xfrm>
            <a:off x="590550" y="571499"/>
            <a:ext cx="1160145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150" b="1" dirty="0">
                <a:solidFill>
                  <a:srgbClr val="38BDF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Accidents by Weather Condition</a:t>
            </a:r>
            <a:endParaRPr lang="en-US" sz="3200" b="1" dirty="0"/>
          </a:p>
        </p:txBody>
      </p:sp>
      <p:sp>
        <p:nvSpPr>
          <p:cNvPr id="8" name="Google Shape;148;p17"/>
          <p:cNvSpPr/>
          <p:nvPr/>
        </p:nvSpPr>
        <p:spPr>
          <a:xfrm>
            <a:off x="571500" y="1247774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235" y="1387252"/>
            <a:ext cx="7269280" cy="363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4107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135;p17" descr="imag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45;p17"/>
          <p:cNvSpPr txBox="1"/>
          <p:nvPr/>
        </p:nvSpPr>
        <p:spPr>
          <a:xfrm>
            <a:off x="1506450" y="508974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dirty="0"/>
          </a:p>
        </p:txBody>
      </p:sp>
      <p:sp>
        <p:nvSpPr>
          <p:cNvPr id="6" name="Google Shape;146;p17"/>
          <p:cNvSpPr txBox="1"/>
          <p:nvPr/>
        </p:nvSpPr>
        <p:spPr>
          <a:xfrm>
            <a:off x="1916483" y="5021892"/>
            <a:ext cx="8492646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en-US" sz="1600" b="1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Single carriageways</a:t>
            </a:r>
            <a:r>
              <a:rPr lang="en-US" sz="16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and **dual carriageways** experienced the highest number of accidents</a:t>
            </a:r>
            <a:r>
              <a:rPr lang="en-US" sz="1600" dirty="0" smtClean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lang="en-US" sz="1600" dirty="0"/>
          </a:p>
        </p:txBody>
      </p:sp>
      <p:sp>
        <p:nvSpPr>
          <p:cNvPr id="7" name="Google Shape;147;p17"/>
          <p:cNvSpPr txBox="1"/>
          <p:nvPr/>
        </p:nvSpPr>
        <p:spPr>
          <a:xfrm>
            <a:off x="590550" y="571499"/>
            <a:ext cx="1160145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150" b="1" dirty="0">
                <a:solidFill>
                  <a:srgbClr val="38BDF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Accidents by Road Type</a:t>
            </a:r>
            <a:endParaRPr lang="en-US" sz="3200" b="1" dirty="0"/>
          </a:p>
        </p:txBody>
      </p:sp>
      <p:sp>
        <p:nvSpPr>
          <p:cNvPr id="8" name="Google Shape;148;p17"/>
          <p:cNvSpPr/>
          <p:nvPr/>
        </p:nvSpPr>
        <p:spPr>
          <a:xfrm>
            <a:off x="571500" y="1247774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0814" y="1437356"/>
            <a:ext cx="7169072" cy="358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455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135;p17" descr="imag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45;p17"/>
          <p:cNvSpPr txBox="1"/>
          <p:nvPr/>
        </p:nvSpPr>
        <p:spPr>
          <a:xfrm>
            <a:off x="1506450" y="508974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dirty="0"/>
          </a:p>
        </p:txBody>
      </p:sp>
      <p:sp>
        <p:nvSpPr>
          <p:cNvPr id="6" name="Google Shape;146;p17"/>
          <p:cNvSpPr txBox="1"/>
          <p:nvPr/>
        </p:nvSpPr>
        <p:spPr>
          <a:xfrm>
            <a:off x="1916483" y="5021892"/>
            <a:ext cx="8492646" cy="1181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histogram shows a significant concentration of accidents, confirming that accident frequency is strongly related to high-traffic periods, typically corresponding to rush-hour congestion</a:t>
            </a:r>
            <a:endParaRPr lang="en-US" sz="1600" dirty="0"/>
          </a:p>
        </p:txBody>
      </p:sp>
      <p:sp>
        <p:nvSpPr>
          <p:cNvPr id="7" name="Google Shape;147;p17"/>
          <p:cNvSpPr txBox="1"/>
          <p:nvPr/>
        </p:nvSpPr>
        <p:spPr>
          <a:xfrm>
            <a:off x="590550" y="571499"/>
            <a:ext cx="1160145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150" b="1" dirty="0">
                <a:solidFill>
                  <a:srgbClr val="38BDF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Hourly Accident Patterns</a:t>
            </a:r>
            <a:endParaRPr lang="en-US" sz="3200" b="1" dirty="0"/>
          </a:p>
        </p:txBody>
      </p:sp>
      <p:sp>
        <p:nvSpPr>
          <p:cNvPr id="8" name="Google Shape;148;p17"/>
          <p:cNvSpPr/>
          <p:nvPr/>
        </p:nvSpPr>
        <p:spPr>
          <a:xfrm>
            <a:off x="571500" y="1247774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15" y="1459904"/>
            <a:ext cx="4383280" cy="3287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9454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Google Shape;216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2"/>
          <p:cNvSpPr txBox="1"/>
          <p:nvPr/>
        </p:nvSpPr>
        <p:spPr>
          <a:xfrm>
            <a:off x="571500" y="762000"/>
            <a:ext cx="520065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Selected Model: Random Forest</a:t>
            </a: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571500" y="1924050"/>
            <a:ext cx="4953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9" name="Google Shape;21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2"/>
          <p:cNvSpPr txBox="1"/>
          <p:nvPr/>
        </p:nvSpPr>
        <p:spPr>
          <a:xfrm>
            <a:off x="571500" y="2324100"/>
            <a:ext cx="52006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Why Random Forest?</a:t>
            </a:r>
            <a:endParaRPr/>
          </a:p>
        </p:txBody>
      </p:sp>
      <p:sp>
        <p:nvSpPr>
          <p:cNvPr id="221" name="Google Shape;221;p22"/>
          <p:cNvSpPr txBox="1"/>
          <p:nvPr/>
        </p:nvSpPr>
        <p:spPr>
          <a:xfrm>
            <a:off x="571500" y="2981325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Random Forest constructs multiple decision trees during training. It outputs the class selected by the majority of the trees (mode of classification).</a:t>
            </a:r>
            <a:endParaRPr/>
          </a:p>
        </p:txBody>
      </p:sp>
      <p:sp>
        <p:nvSpPr>
          <p:cNvPr id="222" name="Google Shape;222;p22"/>
          <p:cNvSpPr txBox="1"/>
          <p:nvPr/>
        </p:nvSpPr>
        <p:spPr>
          <a:xfrm>
            <a:off x="571500" y="422910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Key Advantages:</a:t>
            </a:r>
            <a:endParaRPr/>
          </a:p>
        </p:txBody>
      </p:sp>
      <p:sp>
        <p:nvSpPr>
          <p:cNvPr id="223" name="Google Shape;223;p22"/>
          <p:cNvSpPr txBox="1"/>
          <p:nvPr/>
        </p:nvSpPr>
        <p:spPr>
          <a:xfrm>
            <a:off x="571500" y="4867275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- Handles non-linear relationships effectively.</a:t>
            </a:r>
            <a:endParaRPr/>
          </a:p>
        </p:txBody>
      </p:sp>
      <p:sp>
        <p:nvSpPr>
          <p:cNvPr id="224" name="Google Shape;224;p22"/>
          <p:cNvSpPr txBox="1"/>
          <p:nvPr/>
        </p:nvSpPr>
        <p:spPr>
          <a:xfrm>
            <a:off x="571500" y="550545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- Robust to noise and outliers (common in accident data).</a:t>
            </a:r>
            <a:endParaRPr/>
          </a:p>
        </p:txBody>
      </p:sp>
      <p:sp>
        <p:nvSpPr>
          <p:cNvPr id="225" name="Google Shape;225;p22"/>
          <p:cNvSpPr txBox="1"/>
          <p:nvPr/>
        </p:nvSpPr>
        <p:spPr>
          <a:xfrm>
            <a:off x="571500" y="6448425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- Provides clear Feature Importance scores.</a:t>
            </a:r>
            <a:endParaRPr/>
          </a:p>
        </p:txBody>
      </p:sp>
      <p:sp>
        <p:nvSpPr>
          <p:cNvPr id="226" name="Google Shape;226;p22"/>
          <p:cNvSpPr txBox="1"/>
          <p:nvPr/>
        </p:nvSpPr>
        <p:spPr>
          <a:xfrm>
            <a:off x="571500" y="7086600"/>
            <a:ext cx="495300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- Reduces the risk of overfitting compared to single Decision Trees.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3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3"/>
          <p:cNvSpPr txBox="1"/>
          <p:nvPr/>
        </p:nvSpPr>
        <p:spPr>
          <a:xfrm>
            <a:off x="2638425" y="3067050"/>
            <a:ext cx="3105150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 dirty="0">
                <a:solidFill>
                  <a:srgbClr val="F59E0B"/>
                </a:solidFill>
                <a:latin typeface="Merriweather"/>
                <a:ea typeface="Merriweather"/>
                <a:cs typeface="Merriweather"/>
                <a:sym typeface="Merriweather"/>
              </a:rPr>
              <a:t>80%</a:t>
            </a:r>
            <a:endParaRPr dirty="0"/>
          </a:p>
        </p:txBody>
      </p:sp>
      <p:sp>
        <p:nvSpPr>
          <p:cNvPr id="233" name="Google Shape;233;p23"/>
          <p:cNvSpPr txBox="1"/>
          <p:nvPr/>
        </p:nvSpPr>
        <p:spPr>
          <a:xfrm>
            <a:off x="2638425" y="4495800"/>
            <a:ext cx="3105150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Training Data</a:t>
            </a:r>
            <a:endParaRPr/>
          </a:p>
        </p:txBody>
      </p:sp>
      <p:sp>
        <p:nvSpPr>
          <p:cNvPr id="234" name="Google Shape;234;p23"/>
          <p:cNvSpPr txBox="1"/>
          <p:nvPr/>
        </p:nvSpPr>
        <p:spPr>
          <a:xfrm>
            <a:off x="6505575" y="3067050"/>
            <a:ext cx="3048000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>
                <a:solidFill>
                  <a:srgbClr val="38BDF8"/>
                </a:solidFill>
                <a:latin typeface="Merriweather"/>
                <a:ea typeface="Merriweather"/>
                <a:cs typeface="Merriweather"/>
                <a:sym typeface="Merriweather"/>
              </a:rPr>
              <a:t>20%</a:t>
            </a:r>
            <a:endParaRPr/>
          </a:p>
        </p:txBody>
      </p:sp>
      <p:sp>
        <p:nvSpPr>
          <p:cNvPr id="235" name="Google Shape;235;p23"/>
          <p:cNvSpPr txBox="1"/>
          <p:nvPr/>
        </p:nvSpPr>
        <p:spPr>
          <a:xfrm>
            <a:off x="6505575" y="4495800"/>
            <a:ext cx="3048000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Testing Data</a:t>
            </a:r>
            <a:endParaRPr/>
          </a:p>
        </p:txBody>
      </p:sp>
      <p:sp>
        <p:nvSpPr>
          <p:cNvPr id="236" name="Google Shape;236;p23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Data Splitting Strategy</a:t>
            </a:r>
            <a:endParaRPr/>
          </a:p>
        </p:txBody>
      </p:sp>
      <p:sp>
        <p:nvSpPr>
          <p:cNvPr id="237" name="Google Shape;237;p23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647825"/>
            <a:ext cx="11049000" cy="4638675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4"/>
          <p:cNvSpPr txBox="1"/>
          <p:nvPr/>
        </p:nvSpPr>
        <p:spPr>
          <a:xfrm>
            <a:off x="571500" y="5838825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All models performed exceptionally well, but Random Forest offers better stability.</a:t>
            </a:r>
            <a:endParaRPr/>
          </a:p>
        </p:txBody>
      </p:sp>
      <p:sp>
        <p:nvSpPr>
          <p:cNvPr id="245" name="Google Shape;245;p24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Model Performance Comparison</a:t>
            </a:r>
            <a:endParaRPr/>
          </a:p>
        </p:txBody>
      </p:sp>
      <p:sp>
        <p:nvSpPr>
          <p:cNvPr id="246" name="Google Shape;246;p24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647825"/>
            <a:ext cx="5238750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647825"/>
            <a:ext cx="5238750" cy="2962275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7"/>
          <p:cNvSpPr txBox="1"/>
          <p:nvPr/>
        </p:nvSpPr>
        <p:spPr>
          <a:xfrm>
            <a:off x="962025" y="2038350"/>
            <a:ext cx="468058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Project Success</a:t>
            </a:r>
            <a:endParaRPr/>
          </a:p>
        </p:txBody>
      </p:sp>
      <p:sp>
        <p:nvSpPr>
          <p:cNvPr id="287" name="Google Shape;287;p27"/>
          <p:cNvSpPr txBox="1"/>
          <p:nvPr/>
        </p:nvSpPr>
        <p:spPr>
          <a:xfrm>
            <a:off x="962025" y="2552700"/>
            <a:ext cx="44577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project successfully demonstrated that machine learning can accurately predict accident severity. The preprocessing pipeline effectively cleaned noisy data, allowing models to identify meaningful patterns.</a:t>
            </a:r>
            <a:endParaRPr/>
          </a:p>
        </p:txBody>
      </p:sp>
      <p:sp>
        <p:nvSpPr>
          <p:cNvPr id="288" name="Google Shape;288;p27"/>
          <p:cNvSpPr txBox="1"/>
          <p:nvPr/>
        </p:nvSpPr>
        <p:spPr>
          <a:xfrm>
            <a:off x="6772275" y="2038350"/>
            <a:ext cx="4680585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1F5F9"/>
                </a:solidFill>
                <a:latin typeface="Inter"/>
                <a:ea typeface="Inter"/>
                <a:cs typeface="Inter"/>
                <a:sym typeface="Inter"/>
              </a:rPr>
              <a:t>Key Takeaways</a:t>
            </a:r>
            <a:endParaRPr/>
          </a:p>
        </p:txBody>
      </p:sp>
      <p:sp>
        <p:nvSpPr>
          <p:cNvPr id="289" name="Google Shape;289;p27"/>
          <p:cNvSpPr txBox="1"/>
          <p:nvPr/>
        </p:nvSpPr>
        <p:spPr>
          <a:xfrm>
            <a:off x="6772275" y="2552700"/>
            <a:ext cx="44577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Random Forest emerged as the optimal model for deployment. The insights provided can directly support traffic authorities in optimizing resource allocation and implementing proactive safety measures.</a:t>
            </a:r>
            <a:endParaRPr/>
          </a:p>
        </p:txBody>
      </p:sp>
      <p:sp>
        <p:nvSpPr>
          <p:cNvPr id="290" name="Google Shape;290;p27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Conclusion</a:t>
            </a:r>
            <a:endParaRPr/>
          </a:p>
        </p:txBody>
      </p:sp>
      <p:sp>
        <p:nvSpPr>
          <p:cNvPr id="291" name="Google Shape;291;p27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3" name="Google Shape;303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29"/>
          <p:cNvSpPr txBox="1"/>
          <p:nvPr/>
        </p:nvSpPr>
        <p:spPr>
          <a:xfrm>
            <a:off x="295275" y="2546002"/>
            <a:ext cx="1160145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 dirty="0" smtClean="0">
                <a:solidFill>
                  <a:srgbClr val="38BDF8"/>
                </a:solidFill>
                <a:latin typeface="Merriweather"/>
                <a:ea typeface="Merriweather"/>
                <a:cs typeface="Merriweather"/>
                <a:sym typeface="Merriweather"/>
              </a:rPr>
              <a:t>Thank you for your attention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0"/>
          <p:cNvSpPr/>
          <p:nvPr/>
        </p:nvSpPr>
        <p:spPr>
          <a:xfrm>
            <a:off x="571500" y="3405931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30"/>
          <p:cNvSpPr/>
          <p:nvPr/>
        </p:nvSpPr>
        <p:spPr>
          <a:xfrm>
            <a:off x="571500" y="419070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2" name="Google Shape;322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650708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30"/>
          <p:cNvSpPr txBox="1"/>
          <p:nvPr/>
        </p:nvSpPr>
        <p:spPr>
          <a:xfrm>
            <a:off x="1617683" y="2663006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https://pub.mdpi-res.com/sustainability/sustainability-13-10856/article_deploy/html/images/sustainability-13-10856-g001.png?1632929122</a:t>
            </a:r>
            <a:endParaRPr dirty="0"/>
          </a:p>
        </p:txBody>
      </p:sp>
      <p:sp>
        <p:nvSpPr>
          <p:cNvPr id="324" name="Google Shape;324;p30"/>
          <p:cNvSpPr txBox="1"/>
          <p:nvPr/>
        </p:nvSpPr>
        <p:spPr>
          <a:xfrm>
            <a:off x="1617684" y="2864978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200" b="0" i="0" u="none" strike="noStrike" cap="none" dirty="0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www.mdpi.com</a:t>
            </a:r>
            <a:endParaRPr dirty="0"/>
          </a:p>
        </p:txBody>
      </p:sp>
      <p:pic>
        <p:nvPicPr>
          <p:cNvPr id="325" name="Google Shape;325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7017" y="3535458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30"/>
          <p:cNvSpPr txBox="1"/>
          <p:nvPr/>
        </p:nvSpPr>
        <p:spPr>
          <a:xfrm>
            <a:off x="1631123" y="3583426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https://miro.medium.com/1*i0o8mjFfCn-uD79-F1Cqkw.png</a:t>
            </a:r>
            <a:endParaRPr/>
          </a:p>
        </p:txBody>
      </p:sp>
      <p:sp>
        <p:nvSpPr>
          <p:cNvPr id="327" name="Google Shape;327;p30"/>
          <p:cNvSpPr txBox="1"/>
          <p:nvPr/>
        </p:nvSpPr>
        <p:spPr>
          <a:xfrm>
            <a:off x="1617682" y="3781516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200" b="0" i="0" u="none" strike="noStrike" cap="none" dirty="0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williamkoehrsen.medium.com</a:t>
            </a:r>
            <a:endParaRPr dirty="0"/>
          </a:p>
        </p:txBody>
      </p:sp>
      <p:sp>
        <p:nvSpPr>
          <p:cNvPr id="334" name="Google Shape;334;p30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Image Sources</a:t>
            </a:r>
            <a:endParaRPr/>
          </a:p>
        </p:txBody>
      </p:sp>
      <p:sp>
        <p:nvSpPr>
          <p:cNvPr id="335" name="Google Shape;335;p30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236</TotalTime>
  <Words>606</Words>
  <Application>Microsoft Office PowerPoint</Application>
  <PresentationFormat>Custom</PresentationFormat>
  <Paragraphs>75</Paragraphs>
  <Slides>17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Inter</vt:lpstr>
      <vt:lpstr>Inter SemiBold</vt:lpstr>
      <vt:lpstr>Merriweather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USER</cp:lastModifiedBy>
  <cp:revision>13</cp:revision>
  <dcterms:modified xsi:type="dcterms:W3CDTF">2025-12-04T17:13:28Z</dcterms:modified>
</cp:coreProperties>
</file>