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4" r:id="rId18"/>
  </p:sldIdLst>
  <p:sldSz cx="12192000" cy="6858000"/>
  <p:notesSz cx="6858000" cy="9144000"/>
  <p:embeddedFontLst>
    <p:embeddedFont>
      <p:font typeface="Merriweather" charset="0"/>
      <p:regular r:id="rId20"/>
      <p:bold r:id="rId21"/>
      <p:italic r:id="rId22"/>
      <p:boldItalic r:id="rId23"/>
    </p:embeddedFont>
    <p:embeddedFont>
      <p:font typeface="Calibri" pitchFamily="34" charset="0"/>
      <p:regular r:id="rId24"/>
      <p:bold r:id="rId25"/>
      <p:italic r:id="rId26"/>
      <p:boldItalic r:id="rId27"/>
    </p:embeddedFont>
    <p:embeddedFont>
      <p:font typeface="Inter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-480" y="2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172783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953666"/>
            <a:ext cx="11601450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Road Traffic Accident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Analysis &amp; Prediction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976538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Data-Driven Approach using Machine Learning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4866084"/>
            <a:ext cx="952500" cy="38100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47825"/>
            <a:ext cx="5238750" cy="326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647825"/>
            <a:ext cx="5238750" cy="3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62025" y="2038350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Project Aim &amp; Scope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2552700"/>
            <a:ext cx="44577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project analyzes road traffic data to identify key factors influencing accident severity. We employ an end-to-end data pipeline, from acquisition to predictive modeling, aimed at supporting decision-making for safer road infrastructure.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72275" y="2038350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Methodology &amp; Results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72275" y="2552700"/>
            <a:ext cx="44577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Using algorithms like Logistic Regression, SVM, and Random Forest, we achieved ~98% predictive accuracy. The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model was selected for deployment due to its robustness and interpretability regarding weather and road type impacts.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Abstract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6478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18383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 this context,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"Churn"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refers to behavioral avoidance. Just as customers leave a service, road users avoid specific routes due to perceived danger.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2943225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High-severity zones, adverse weather (fog/rain), and poor lighting trigger this reaction. Analyzing these patterns helps authorities identify environmental factors that force users to "churn" or alter their travel behavior.</a:t>
            </a:r>
            <a:endParaRPr/>
          </a:p>
        </p:txBody>
      </p:sp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6478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Introduction: The "Churn" of Road Safety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05037"/>
            <a:ext cx="3492549" cy="352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05037"/>
            <a:ext cx="3492549" cy="352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05037"/>
            <a:ext cx="3492549" cy="352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23374" y="2500312"/>
            <a:ext cx="2901999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794225" y="3252787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Rising Severity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66775" y="376713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Despite infrastructure advancements, accident frequency and severity remain critical public safety concerns globally.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572524" y="3252787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Data Gap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645074" y="376713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Traditional manual analysis is insufficient. There is a critical need for data-driven approaches to handle large-scale datasets.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350824" y="3252787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Predictive Goal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423374" y="376713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project aims to build models estimating severity based on environmental, temporal, and roadway features.</a:t>
            </a:r>
            <a:endParaRPr/>
          </a:p>
        </p:txBody>
      </p:sp>
      <p:pic>
        <p:nvPicPr>
          <p:cNvPr id="127" name="Google Shape;12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89100" y="25479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95975" y="2547937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Problem Statement &amp; Scope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4782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6478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6381750" y="164782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Limitations of Current Methods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657975" y="21240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762750" y="212407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Manual Reporting: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Prone to human error, incomplete data, and lacks real-time insights.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657975" y="28765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762750" y="2876550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CCTV Surveillance: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Requires continuous human monitoring and suffers from blind spots during poor weather.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657975" y="39338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762750" y="393382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GIS Mapping: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Identifies static hotspots but fails to predict dynamic severity probabilities.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657975" y="46863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762750" y="4686300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Basic Statistics: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Correlation and frequency analysis cannot capture complex, non-linear relationships.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Review of Existing Systems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190500" y="1964233"/>
            <a:ext cx="70485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0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"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4931866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— Literature Findings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Shift to Machine Learning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2726233"/>
            <a:ext cx="11049000" cy="1919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"Ensemble methods like Random Forest outperform traditional linear models when dealing with heterogeneous accident data."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/>
          <p:nvPr/>
        </p:nvSpPr>
        <p:spPr>
          <a:xfrm>
            <a:off x="571500" y="3967162"/>
            <a:ext cx="11049000" cy="38100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1451520" y="3251894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521780" y="3670994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Acquisition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571500" y="4051994"/>
            <a:ext cx="198879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Kaggle Dataset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(AccidentsBig.csv)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3716535" y="3251894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2786795" y="3670994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EDA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2836515" y="4051994"/>
            <a:ext cx="198879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Outlier Detection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&amp; Missing Values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5981551" y="3251894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5051810" y="3670994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Encoding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101530" y="4051994"/>
            <a:ext cx="198879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Categorical to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Numerical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8246566" y="3251894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7316825" y="3670994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Modeling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7366545" y="4051994"/>
            <a:ext cx="198879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RF, SVM, KNN,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LogReg, DT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10511581" y="3251894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9581841" y="3670994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Evaluation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9631560" y="4051994"/>
            <a:ext cx="198879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Accuracy &amp;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Feature Importance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Methodology Pipeline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6478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571500" y="164782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Key Preprocessing Steps</a:t>
            </a:r>
            <a:endParaRPr/>
          </a:p>
        </p:txBody>
      </p:sp>
      <p:pic>
        <p:nvPicPr>
          <p:cNvPr id="189" name="Google Shape;18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6478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952500" y="2124075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Missing Data: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Handled using forward fill (numeric) and mode imputation (categorical) to preserve data integrity.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952500" y="3276600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Outliers: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Detected in 'Number of Vehicles' and 'Casualties'. Retained as they represent meaningful high-severity events.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952500" y="442912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Encoding: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Converted text labels (Road Type, Weather) into numerical formats for ML compatibility.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952500" y="5276850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Correlation: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Heatmaps revealed weak linear correlations, necessitating non-linear models like Random Forest.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Exploratory Data Analysis (EDA)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1621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147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672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31495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571500" y="762000"/>
            <a:ext cx="520065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Selected Model: Random Forest</a:t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571500" y="1924050"/>
            <a:ext cx="4953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571500" y="2324100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Why Random Forest?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571500" y="29813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Random Forest constructs multiple decision trees during training. It outputs the class selected by the majority of the trees (mode of classification).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571500" y="42291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Key Advantages: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571500" y="486727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- Handles non-linear relationships effectively.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571500" y="55054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- Robust to noise and outliers (common in accident data).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571500" y="64484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- Provides clear Feature Importance scores.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571500" y="7086600"/>
            <a:ext cx="4953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- Reduces the risk of overfitting compared to single Decision Trees.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2638425" y="3067050"/>
            <a:ext cx="31051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F59E0B"/>
                </a:solidFill>
                <a:latin typeface="Merriweather"/>
                <a:ea typeface="Merriweather"/>
                <a:cs typeface="Merriweather"/>
                <a:sym typeface="Merriweather"/>
              </a:rPr>
              <a:t>80%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2638425" y="4495800"/>
            <a:ext cx="31051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Training Data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6505575" y="3067050"/>
            <a:ext cx="30480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20%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6505575" y="4495800"/>
            <a:ext cx="30480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Testing Data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Data Splitting Strategy</a:t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47825"/>
            <a:ext cx="11049000" cy="46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4"/>
          <p:cNvSpPr txBox="1"/>
          <p:nvPr/>
        </p:nvSpPr>
        <p:spPr>
          <a:xfrm>
            <a:off x="571500" y="58388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All models performed exceptionally well, but Random Forest offers better stability.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Model Performance Comparison</a:t>
            </a:r>
            <a:endParaRPr/>
          </a:p>
        </p:txBody>
      </p:sp>
      <p:sp>
        <p:nvSpPr>
          <p:cNvPr id="246" name="Google Shape;246;p24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95475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895475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895475"/>
            <a:ext cx="349254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 txBox="1"/>
          <p:nvPr/>
        </p:nvSpPr>
        <p:spPr>
          <a:xfrm>
            <a:off x="484186" y="4467225"/>
            <a:ext cx="366717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Time of Day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571500" y="4981575"/>
            <a:ext cx="34925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Accidents peak during morning (8-10 AM) and evening (4-6 PM) rush hours.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4262485" y="4467225"/>
            <a:ext cx="366717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Weather Conditions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4349799" y="4981575"/>
            <a:ext cx="34925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Poor visibility and wet roads significantly increase the probability of severe accidents.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8040785" y="4467225"/>
            <a:ext cx="366717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Road Type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8128099" y="4981575"/>
            <a:ext cx="34925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Single and dual carriageways see higher incident rates compared to slip roads.</a:t>
            </a:r>
            <a:endParaRPr/>
          </a:p>
        </p:txBody>
      </p:sp>
      <p:pic>
        <p:nvPicPr>
          <p:cNvPr id="261" name="Google Shape;261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1895475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49799" y="1895475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28099" y="1895475"/>
            <a:ext cx="349254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Identified Risk Factors</a:t>
            </a:r>
            <a:endParaRPr/>
          </a:p>
        </p:txBody>
      </p:sp>
      <p:sp>
        <p:nvSpPr>
          <p:cNvPr id="265" name="Google Shape;265;p25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14625" y="2300287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/>
          <p:nvPr/>
        </p:nvSpPr>
        <p:spPr>
          <a:xfrm>
            <a:off x="3286125" y="2871787"/>
            <a:ext cx="2190750" cy="2190750"/>
          </a:xfrm>
          <a:prstGeom prst="roundRect">
            <a:avLst>
              <a:gd name="adj" fmla="val 2173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6"/>
          <p:cNvSpPr txBox="1"/>
          <p:nvPr/>
        </p:nvSpPr>
        <p:spPr>
          <a:xfrm>
            <a:off x="6619875" y="3798391"/>
            <a:ext cx="28575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Random Forest analysis revealed that temporal factors and physical road characteristics are the strongest predictors of severity.</a:t>
            </a:r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6619875" y="2388989"/>
            <a:ext cx="2857500" cy="262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Time of Accident (40%)</a:t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6619875" y="2867025"/>
            <a:ext cx="2857500" cy="262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Road Type (30%)</a:t>
            </a:r>
            <a:endParaRPr/>
          </a:p>
        </p:txBody>
      </p:sp>
      <p:sp>
        <p:nvSpPr>
          <p:cNvPr id="276" name="Google Shape;276;p26"/>
          <p:cNvSpPr txBox="1"/>
          <p:nvPr/>
        </p:nvSpPr>
        <p:spPr>
          <a:xfrm>
            <a:off x="6619875" y="3345060"/>
            <a:ext cx="2857500" cy="262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Weather (30%)</a:t>
            </a:r>
            <a:endParaRPr/>
          </a:p>
        </p:txBody>
      </p:sp>
      <p:sp>
        <p:nvSpPr>
          <p:cNvPr id="277" name="Google Shape;277;p2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Feature Importance Analysis</a:t>
            </a:r>
            <a:endParaRPr/>
          </a:p>
        </p:txBody>
      </p:sp>
      <p:sp>
        <p:nvSpPr>
          <p:cNvPr id="278" name="Google Shape;278;p26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47825"/>
            <a:ext cx="5238750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647825"/>
            <a:ext cx="5238750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7"/>
          <p:cNvSpPr txBox="1"/>
          <p:nvPr/>
        </p:nvSpPr>
        <p:spPr>
          <a:xfrm>
            <a:off x="962025" y="2038350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Project Success</a:t>
            </a:r>
            <a:endParaRPr/>
          </a:p>
        </p:txBody>
      </p:sp>
      <p:sp>
        <p:nvSpPr>
          <p:cNvPr id="287" name="Google Shape;287;p27"/>
          <p:cNvSpPr txBox="1"/>
          <p:nvPr/>
        </p:nvSpPr>
        <p:spPr>
          <a:xfrm>
            <a:off x="962025" y="2552700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project successfully demonstrated that machine learning can accurately predict accident severity. The preprocessing pipeline effectively cleaned noisy data, allowing models to identify meaningful patterns.</a:t>
            </a:r>
            <a:endParaRPr/>
          </a:p>
        </p:txBody>
      </p:sp>
      <p:sp>
        <p:nvSpPr>
          <p:cNvPr id="288" name="Google Shape;288;p27"/>
          <p:cNvSpPr txBox="1"/>
          <p:nvPr/>
        </p:nvSpPr>
        <p:spPr>
          <a:xfrm>
            <a:off x="6772275" y="2038350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Key Takeaways</a:t>
            </a:r>
            <a:endParaRPr/>
          </a:p>
        </p:txBody>
      </p:sp>
      <p:sp>
        <p:nvSpPr>
          <p:cNvPr id="289" name="Google Shape;289;p27"/>
          <p:cNvSpPr txBox="1"/>
          <p:nvPr/>
        </p:nvSpPr>
        <p:spPr>
          <a:xfrm>
            <a:off x="6772275" y="2552700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Random Forest emerged as the optimal model for deployment. The insights provided can directly support traffic authorities in optimizing resource allocation and implementing proactive safety measures.</a:t>
            </a:r>
            <a:endParaRPr/>
          </a:p>
        </p:txBody>
      </p:sp>
      <p:sp>
        <p:nvSpPr>
          <p:cNvPr id="290" name="Google Shape;290;p27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/>
          </a:p>
        </p:txBody>
      </p:sp>
      <p:sp>
        <p:nvSpPr>
          <p:cNvPr id="291" name="Google Shape;291;p27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9"/>
          <p:cNvSpPr txBox="1"/>
          <p:nvPr/>
        </p:nvSpPr>
        <p:spPr>
          <a:xfrm>
            <a:off x="295275" y="2546002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Q&amp;A</a:t>
            </a:r>
            <a:endParaRPr/>
          </a:p>
        </p:txBody>
      </p:sp>
      <p:sp>
        <p:nvSpPr>
          <p:cNvPr id="305" name="Google Shape;305;p29"/>
          <p:cNvSpPr txBox="1"/>
          <p:nvPr/>
        </p:nvSpPr>
        <p:spPr>
          <a:xfrm>
            <a:off x="571500" y="3803302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Thank you for your attention.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0"/>
          <p:cNvSpPr/>
          <p:nvPr/>
        </p:nvSpPr>
        <p:spPr>
          <a:xfrm>
            <a:off x="571500" y="26211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0"/>
          <p:cNvSpPr/>
          <p:nvPr/>
        </p:nvSpPr>
        <p:spPr>
          <a:xfrm>
            <a:off x="571500" y="340593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0"/>
          <p:cNvSpPr/>
          <p:nvPr/>
        </p:nvSpPr>
        <p:spPr>
          <a:xfrm>
            <a:off x="571500" y="41907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0"/>
          <p:cNvSpPr/>
          <p:nvPr/>
        </p:nvSpPr>
        <p:spPr>
          <a:xfrm>
            <a:off x="571500" y="497547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0"/>
          <p:cNvSpPr/>
          <p:nvPr/>
        </p:nvSpPr>
        <p:spPr>
          <a:xfrm>
            <a:off x="571500" y="576024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" name="Google Shape;316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9636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0"/>
          <p:cNvSpPr txBox="1"/>
          <p:nvPr/>
        </p:nvSpPr>
        <p:spPr>
          <a:xfrm>
            <a:off x="1666875" y="179070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https://media.istockphoto.com/id/1413625824/photo/the-drone-flies-over-the-track-during-traffic-with-many-interchanges-in-different-directions.jpg?s=612x612&amp;w=0&amp;k=20&amp;c=pNu-XrlJIXKvilFNEDeEGJrUSYQg_DZN45shM6b2csg=</a:t>
            </a:r>
            <a:endParaRPr dirty="0"/>
          </a:p>
        </p:txBody>
      </p:sp>
      <p:sp>
        <p:nvSpPr>
          <p:cNvPr id="318" name="Google Shape;318;p30"/>
          <p:cNvSpPr txBox="1"/>
          <p:nvPr/>
        </p:nvSpPr>
        <p:spPr>
          <a:xfrm>
            <a:off x="1666875" y="223450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 dirty="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 dirty="0"/>
          </a:p>
        </p:txBody>
      </p:sp>
      <p:pic>
        <p:nvPicPr>
          <p:cNvPr id="319" name="Google Shape;319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801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0"/>
          <p:cNvSpPr txBox="1"/>
          <p:nvPr/>
        </p:nvSpPr>
        <p:spPr>
          <a:xfrm>
            <a:off x="1666875" y="277356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https://media.extron.com/public/img/mktg/trafficmgmt.jpg</a:t>
            </a:r>
            <a:endParaRPr/>
          </a:p>
        </p:txBody>
      </p:sp>
      <p:sp>
        <p:nvSpPr>
          <p:cNvPr id="321" name="Google Shape;321;p30"/>
          <p:cNvSpPr txBox="1"/>
          <p:nvPr/>
        </p:nvSpPr>
        <p:spPr>
          <a:xfrm>
            <a:off x="1666875" y="301927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www.extron.es</a:t>
            </a:r>
            <a:endParaRPr/>
          </a:p>
        </p:txBody>
      </p:sp>
      <p:pic>
        <p:nvPicPr>
          <p:cNvPr id="322" name="Google Shape;322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5648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0"/>
          <p:cNvSpPr txBox="1"/>
          <p:nvPr/>
        </p:nvSpPr>
        <p:spPr>
          <a:xfrm>
            <a:off x="1666875" y="355833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https://pub.mdpi-res.com/sustainability/sustainability-13-10856/article_deploy/html/images/sustainability-13-10856-g001.png?1632929122</a:t>
            </a:r>
            <a:endParaRPr/>
          </a:p>
        </p:txBody>
      </p:sp>
      <p:sp>
        <p:nvSpPr>
          <p:cNvPr id="324" name="Google Shape;324;p30"/>
          <p:cNvSpPr txBox="1"/>
          <p:nvPr/>
        </p:nvSpPr>
        <p:spPr>
          <a:xfrm>
            <a:off x="1666875" y="380404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www.mdpi.com</a:t>
            </a:r>
            <a:endParaRPr/>
          </a:p>
        </p:txBody>
      </p:sp>
      <p:pic>
        <p:nvPicPr>
          <p:cNvPr id="325" name="Google Shape;325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3496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0"/>
          <p:cNvSpPr txBox="1"/>
          <p:nvPr/>
        </p:nvSpPr>
        <p:spPr>
          <a:xfrm>
            <a:off x="1666875" y="434310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https://miro.medium.com/1*i0o8mjFfCn-uD79-F1Cqkw.png</a:t>
            </a:r>
            <a:endParaRPr/>
          </a:p>
        </p:txBody>
      </p:sp>
      <p:sp>
        <p:nvSpPr>
          <p:cNvPr id="327" name="Google Shape;327;p30"/>
          <p:cNvSpPr txBox="1"/>
          <p:nvPr/>
        </p:nvSpPr>
        <p:spPr>
          <a:xfrm>
            <a:off x="1666875" y="458881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williamkoehrsen.medium.com</a:t>
            </a:r>
            <a:endParaRPr/>
          </a:p>
        </p:txBody>
      </p:sp>
      <p:pic>
        <p:nvPicPr>
          <p:cNvPr id="328" name="Google Shape;328;p3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13442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0"/>
          <p:cNvSpPr txBox="1"/>
          <p:nvPr/>
        </p:nvSpPr>
        <p:spPr>
          <a:xfrm>
            <a:off x="1666875" y="512787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https://static.vecteezy.com/system/resources/thumbnails/070/017/856/small/urban-rush-hour-traffic-scene-at-sunset-busy-city-street-with-cars-and-taxis-photo.jpg</a:t>
            </a:r>
            <a:endParaRPr/>
          </a:p>
        </p:txBody>
      </p:sp>
      <p:sp>
        <p:nvSpPr>
          <p:cNvPr id="330" name="Google Shape;330;p30"/>
          <p:cNvSpPr txBox="1"/>
          <p:nvPr/>
        </p:nvSpPr>
        <p:spPr>
          <a:xfrm>
            <a:off x="1666875" y="537358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id="331" name="Google Shape;331;p3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91919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 txBox="1"/>
          <p:nvPr/>
        </p:nvSpPr>
        <p:spPr>
          <a:xfrm>
            <a:off x="1666875" y="591264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https://static.vecteezy.com/system/resources/previews/060/002/828/large_2x/driving-in-heavy-rain-at-night-in-new-york-city-free-photo.jpg</a:t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1666875" y="615835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335" name="Google Shape;335;p30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1"/>
          <p:cNvSpPr/>
          <p:nvPr/>
        </p:nvSpPr>
        <p:spPr>
          <a:xfrm>
            <a:off x="571500" y="40613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2" name="Google Shape;342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3657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1"/>
          <p:cNvSpPr txBox="1"/>
          <p:nvPr/>
        </p:nvSpPr>
        <p:spPr>
          <a:xfrm>
            <a:off x="1666875" y="3230909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https://media.istockphoto.com/id/1181495500/photo/winding-mountain-road-maloja-pass-swiss-alps.jpg?s=612x612&amp;w=0&amp;k=20&amp;c=b6aHyrqXWCRfxvsuVT589tOjOYDVUaEKbQZ3hsHnnrE=</a:t>
            </a:r>
            <a:endParaRPr/>
          </a:p>
        </p:txBody>
      </p:sp>
      <p:sp>
        <p:nvSpPr>
          <p:cNvPr id="344" name="Google Shape;344;p31"/>
          <p:cNvSpPr txBox="1"/>
          <p:nvPr/>
        </p:nvSpPr>
        <p:spPr>
          <a:xfrm>
            <a:off x="1666875" y="367471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pic>
        <p:nvPicPr>
          <p:cNvPr id="345" name="Google Shape;345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203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1"/>
          <p:cNvSpPr txBox="1"/>
          <p:nvPr/>
        </p:nvSpPr>
        <p:spPr>
          <a:xfrm>
            <a:off x="1666875" y="421377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https://scwcontent.affino.com/AcuCustom/Sitename/DAM/014/connected_cars_Adobe.jpg</a:t>
            </a:r>
            <a:endParaRPr/>
          </a:p>
        </p:txBody>
      </p:sp>
      <p:sp>
        <p:nvSpPr>
          <p:cNvPr id="347" name="Google Shape;347;p31"/>
          <p:cNvSpPr txBox="1"/>
          <p:nvPr/>
        </p:nvSpPr>
        <p:spPr>
          <a:xfrm>
            <a:off x="1666875" y="445948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www.smartcitiesworld.net</a:t>
            </a:r>
            <a:endParaRPr/>
          </a:p>
        </p:txBody>
      </p:sp>
      <p:sp>
        <p:nvSpPr>
          <p:cNvPr id="348" name="Google Shape;348;p3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349" name="Google Shape;349;p31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744</Words>
  <Application>Microsoft Office PowerPoint</Application>
  <PresentationFormat>Custom</PresentationFormat>
  <Paragraphs>100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Merriweather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USER</cp:lastModifiedBy>
  <cp:revision>1</cp:revision>
  <dcterms:modified xsi:type="dcterms:W3CDTF">2025-12-03T13:53:19Z</dcterms:modified>
</cp:coreProperties>
</file>